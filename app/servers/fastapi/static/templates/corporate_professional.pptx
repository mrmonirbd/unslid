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323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Marketing Analysis Report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9006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comprehensive, data-driven review of market position, audience insights, channel performance, and strategic growth opportunities.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271016"/>
            <a:ext cx="2497574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5339001"/>
            <a:ext cx="222539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2024 STRATEGIC REPORT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37103"/>
            <a:ext cx="3244096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01 — 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9376" y="1032629"/>
            <a:ext cx="6223873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Insights at a Glance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9376" y="2057043"/>
            <a:ext cx="6479381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12%</a:t>
            </a:r>
            <a:endParaRPr lang="en-US" sz="5300" dirty="0"/>
          </a:p>
        </p:txBody>
      </p:sp>
      <p:sp>
        <p:nvSpPr>
          <p:cNvPr id="5" name="Text 3"/>
          <p:cNvSpPr/>
          <p:nvPr/>
        </p:nvSpPr>
        <p:spPr>
          <a:xfrm>
            <a:off x="2674263" y="2977753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Revenue Growth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9376" y="3410545"/>
            <a:ext cx="647938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YoY performance above industry average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31524" y="2057043"/>
            <a:ext cx="6479500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3.4x</a:t>
            </a:r>
            <a:endParaRPr lang="en-US" sz="5300" dirty="0"/>
          </a:p>
        </p:txBody>
      </p:sp>
      <p:sp>
        <p:nvSpPr>
          <p:cNvPr id="8" name="Text 6"/>
          <p:cNvSpPr/>
          <p:nvPr/>
        </p:nvSpPr>
        <p:spPr>
          <a:xfrm>
            <a:off x="9386530" y="2977753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Avg. ROI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31524" y="3410545"/>
            <a:ext cx="6479500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Across all paid marketing channels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376" y="4199334"/>
            <a:ext cx="6479381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68%</a:t>
            </a:r>
            <a:endParaRPr lang="en-US" sz="5300" dirty="0"/>
          </a:p>
        </p:txBody>
      </p:sp>
      <p:sp>
        <p:nvSpPr>
          <p:cNvPr id="11" name="Text 9"/>
          <p:cNvSpPr/>
          <p:nvPr/>
        </p:nvSpPr>
        <p:spPr>
          <a:xfrm>
            <a:off x="2674263" y="5120045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Brand Awareness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9376" y="5552837"/>
            <a:ext cx="647938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Among core target segments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31524" y="4199334"/>
            <a:ext cx="6479500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#2</a:t>
            </a:r>
            <a:endParaRPr lang="en-US" sz="5300" dirty="0"/>
          </a:p>
        </p:txBody>
      </p:sp>
      <p:sp>
        <p:nvSpPr>
          <p:cNvPr id="14" name="Text 12"/>
          <p:cNvSpPr/>
          <p:nvPr/>
        </p:nvSpPr>
        <p:spPr>
          <a:xfrm>
            <a:off x="9386530" y="5120045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Market Position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31524" y="5552837"/>
            <a:ext cx="6479500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Within primary competitive set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9376" y="6075878"/>
            <a:ext cx="4273034" cy="1516499"/>
          </a:xfrm>
          <a:prstGeom prst="roundRect">
            <a:avLst>
              <a:gd name="adj" fmla="val 723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6516" y="6075878"/>
            <a:ext cx="91440" cy="1516499"/>
          </a:xfrm>
          <a:prstGeom prst="roundRect">
            <a:avLst>
              <a:gd name="adj" fmla="val 202326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317" y="630424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Top Priority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317" y="6737033"/>
            <a:ext cx="374773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Invest in retention &amp; loyalty programs to reduce churn by 15%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78623" y="6075878"/>
            <a:ext cx="4273034" cy="1516499"/>
          </a:xfrm>
          <a:prstGeom prst="roundRect">
            <a:avLst>
              <a:gd name="adj" fmla="val 723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5763" y="6075878"/>
            <a:ext cx="91440" cy="1516499"/>
          </a:xfrm>
          <a:prstGeom prst="roundRect">
            <a:avLst>
              <a:gd name="adj" fmla="val 202326"/>
            </a:avLst>
          </a:prstGeom>
          <a:solidFill>
            <a:srgbClr val="438951"/>
          </a:solidFill>
          <a:ln/>
        </p:spPr>
      </p:sp>
      <p:sp>
        <p:nvSpPr>
          <p:cNvPr id="22" name="Text 20"/>
          <p:cNvSpPr/>
          <p:nvPr/>
        </p:nvSpPr>
        <p:spPr>
          <a:xfrm>
            <a:off x="5475565" y="630424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Quick Win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75565" y="6737033"/>
            <a:ext cx="374773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Reallocate 20% of paid spend to high-converting SEO content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37871" y="6075878"/>
            <a:ext cx="4273034" cy="1516499"/>
          </a:xfrm>
          <a:prstGeom prst="roundRect">
            <a:avLst>
              <a:gd name="adj" fmla="val 7236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15011" y="6075878"/>
            <a:ext cx="91440" cy="1516499"/>
          </a:xfrm>
          <a:prstGeom prst="roundRect">
            <a:avLst>
              <a:gd name="adj" fmla="val 202326"/>
            </a:avLst>
          </a:prstGeom>
          <a:solidFill>
            <a:srgbClr val="438951"/>
          </a:solidFill>
          <a:ln/>
        </p:spPr>
      </p:sp>
      <p:sp>
        <p:nvSpPr>
          <p:cNvPr id="26" name="Text 24"/>
          <p:cNvSpPr/>
          <p:nvPr/>
        </p:nvSpPr>
        <p:spPr>
          <a:xfrm>
            <a:off x="9934813" y="6304240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Growth Signal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934813" y="6737033"/>
            <a:ext cx="374773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Emerging segment (25–34) shows 2x engagement vs. prior year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7369"/>
            <a:ext cx="32189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02 — Market Overview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280190" y="13024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 Growing, Competitive Landscape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3286958"/>
            <a:ext cx="3056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Market Size &amp; Trends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868103"/>
            <a:ext cx="3501509" cy="342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Global market valued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$48.6B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projected to reach $72B by 2027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CAGR of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8.3%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driven by digital adoption and shifting consumer behavior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Post-pandemic recovery accelerating demand in key verticals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286958"/>
            <a:ext cx="28719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Growth Drivers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3868103"/>
            <a:ext cx="35015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Mobile-first consumption reshaping purchase journeys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personalization elevating customer expectations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Sustainability and brand values increasingly decisive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D2C models disrupting traditional retail channels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485656"/>
            <a:ext cx="3157895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03 — Target Audience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690568" y="787241"/>
            <a:ext cx="4262795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Who We're Reaching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568" y="1604129"/>
            <a:ext cx="6008013" cy="60080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568" y="1604129"/>
            <a:ext cx="6008013" cy="60080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03870" y="342757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Core Pain Points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4949" y="3822263"/>
            <a:ext cx="244435" cy="2444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33579" y="3814167"/>
            <a:ext cx="4313634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Information overload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difficulty finding trustworthy, concise guidance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4949" y="4553664"/>
            <a:ext cx="244435" cy="2444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33579" y="4545568"/>
            <a:ext cx="4313634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Price sensitivity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seeking perceived value over lowest cost</a:t>
            </a:r>
            <a:endParaRPr lang="en-US" sz="12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4949" y="5285065"/>
            <a:ext cx="244435" cy="2444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633579" y="5276969"/>
            <a:ext cx="4313634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Fragmented experience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inconsistent brand touchpoints across channels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42211"/>
            <a:ext cx="2915245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04 — Competitive Analysis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323737" y="866537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Where We Stand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737" y="1758196"/>
            <a:ext cx="5779532" cy="57795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37" y="1758196"/>
            <a:ext cx="5779532" cy="57795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34513" y="2631043"/>
            <a:ext cx="2662595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Competitive Positioning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534513" y="3051810"/>
            <a:ext cx="5779532" cy="2573655"/>
          </a:xfrm>
          <a:prstGeom prst="roundRect">
            <a:avLst>
              <a:gd name="adj" fmla="val 607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16083" y="3146822"/>
            <a:ext cx="1954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Dimension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025539" y="3146822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178302" y="3146822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Rival 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331065" y="3146822"/>
            <a:ext cx="80176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Rival B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716083" y="3574494"/>
            <a:ext cx="1954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Brand Awareness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025539" y="3574494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68%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178302" y="3574494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74%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2331065" y="3574494"/>
            <a:ext cx="80176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52%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716083" y="4002167"/>
            <a:ext cx="1954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NPS Score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0025539" y="4002167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42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178302" y="4002167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38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2331065" y="4002167"/>
            <a:ext cx="80176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29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7716083" y="4429839"/>
            <a:ext cx="1954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Avg. Price Point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0025539" y="4429839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$$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1178302" y="4429839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$$$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12331065" y="4429839"/>
            <a:ext cx="80176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7716083" y="4857512"/>
            <a:ext cx="1954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Digital Spend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10025539" y="4857512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Medium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11178302" y="4857512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12331065" y="4857512"/>
            <a:ext cx="80176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7716083" y="5285184"/>
            <a:ext cx="195464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Content Velocity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10025539" y="5285184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11178302" y="5285184"/>
            <a:ext cx="79795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12331065" y="5285184"/>
            <a:ext cx="80176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Medium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7534513" y="5775008"/>
            <a:ext cx="5779532" cy="873204"/>
          </a:xfrm>
          <a:prstGeom prst="roundRect">
            <a:avLst>
              <a:gd name="adj" fmla="val 17899"/>
            </a:avLst>
          </a:prstGeom>
          <a:solidFill>
            <a:srgbClr val="B6D6FC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106" y="6007656"/>
            <a:ext cx="217051" cy="17359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098750" y="5951220"/>
            <a:ext cx="504170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Despite lower awareness than Rival A, our NPS outperforms — a key retention advantage.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3456"/>
            <a:ext cx="39029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05 — Channel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428512"/>
            <a:ext cx="80735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What's Working, What's Not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732603"/>
            <a:ext cx="514945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30" y="2769156"/>
            <a:ext cx="91440" cy="91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050" y="2755463"/>
            <a:ext cx="286345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ROI (x)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69695" y="2732603"/>
            <a:ext cx="836771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035" y="2769156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44955" y="2755463"/>
            <a:ext cx="608171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Conv. Rate (%)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73348"/>
            <a:ext cx="7604284" cy="41906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44298" y="3274197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5.2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6417989" y="3564038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4.1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7256852" y="4028577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4.8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5799752" y="4318418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3.6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5203660" y="4782957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3.1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4097738" y="5072798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2.2</a:t>
            </a:r>
            <a:endParaRPr lang="en-US" sz="650" dirty="0"/>
          </a:p>
        </p:txBody>
      </p:sp>
      <p:sp>
        <p:nvSpPr>
          <p:cNvPr id="17" name="Text 12"/>
          <p:cNvSpPr/>
          <p:nvPr/>
        </p:nvSpPr>
        <p:spPr>
          <a:xfrm>
            <a:off x="3741321" y="5537337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1.9</a:t>
            </a:r>
            <a:endParaRPr lang="en-US" sz="650" dirty="0"/>
          </a:p>
        </p:txBody>
      </p:sp>
      <p:sp>
        <p:nvSpPr>
          <p:cNvPr id="18" name="Text 13"/>
          <p:cNvSpPr/>
          <p:nvPr/>
        </p:nvSpPr>
        <p:spPr>
          <a:xfrm>
            <a:off x="2781669" y="5827178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1.1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4707880" y="6291717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2.7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3620532" y="6581558"/>
            <a:ext cx="16418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1.8</a:t>
            </a:r>
            <a:endParaRPr lang="en-US" sz="650" dirty="0"/>
          </a:p>
        </p:txBody>
      </p:sp>
      <p:sp>
        <p:nvSpPr>
          <p:cNvPr id="21" name="Shape 16"/>
          <p:cNvSpPr/>
          <p:nvPr/>
        </p:nvSpPr>
        <p:spPr>
          <a:xfrm>
            <a:off x="8795742" y="2477453"/>
            <a:ext cx="5211723" cy="4768691"/>
          </a:xfrm>
          <a:prstGeom prst="roundRect">
            <a:avLst>
              <a:gd name="adj" fmla="val 6850"/>
            </a:avLst>
          </a:prstGeom>
          <a:solidFill>
            <a:srgbClr val="DFEEE2"/>
          </a:solidFill>
          <a:ln/>
        </p:spPr>
      </p:sp>
      <p:sp>
        <p:nvSpPr>
          <p:cNvPr id="22" name="Text 17"/>
          <p:cNvSpPr/>
          <p:nvPr/>
        </p:nvSpPr>
        <p:spPr>
          <a:xfrm>
            <a:off x="9022556" y="2704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022556" y="3285411"/>
            <a:ext cx="4758095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delivers highest ROI — underinvested relative to impact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Email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remains top converter — needs list growth focus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Paid Social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reach is strong but conversion lags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Display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ROI below threshold — reallocate budget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1011" y="591741"/>
            <a:ext cx="45921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06 — Brand Positioning &amp; Messaging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181011" y="971312"/>
            <a:ext cx="600122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the Market Sees Us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181011" y="20253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Brand Perception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6181011" y="2530793"/>
            <a:ext cx="3635335" cy="1521500"/>
          </a:xfrm>
          <a:prstGeom prst="roundRect">
            <a:avLst>
              <a:gd name="adj" fmla="val 1174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2229" y="2752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Trusted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402229" y="3235762"/>
            <a:ext cx="319289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Strong credibility among 35–44 segment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81011" y="4225885"/>
            <a:ext cx="3635335" cy="1521500"/>
          </a:xfrm>
          <a:prstGeom prst="roundRect">
            <a:avLst>
              <a:gd name="adj" fmla="val 1174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2229" y="44471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Premium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402229" y="4930854"/>
            <a:ext cx="319289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Associated with quality, not exclusivity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81011" y="5920978"/>
            <a:ext cx="3635335" cy="1521500"/>
          </a:xfrm>
          <a:prstGeom prst="roundRect">
            <a:avLst>
              <a:gd name="adj" fmla="val 1174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2229" y="61421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Reliable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402229" y="6625947"/>
            <a:ext cx="319289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Consistent delivery perceived as a core strength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0308074" y="2025372"/>
            <a:ext cx="32087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Unique Value Proposition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605730" y="2530793"/>
            <a:ext cx="3337679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empower customers to make confident decisions — through clarity, quality, and a brand that genuinely stands for something.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10308074" y="2530793"/>
            <a:ext cx="22860" cy="1190625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8" name="Text 15"/>
          <p:cNvSpPr/>
          <p:nvPr/>
        </p:nvSpPr>
        <p:spPr>
          <a:xfrm>
            <a:off x="10308074" y="39166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Tone &amp; Voice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308074" y="4400431"/>
            <a:ext cx="3635335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Clear, warm, and authoritative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Data-informed without being cold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Empowering, never condescending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73154"/>
            <a:ext cx="3221355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07 — Customer Journey Analysis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935123" y="759619"/>
            <a:ext cx="5194697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From Discovery to Loyalty</a:t>
            </a:r>
            <a:endParaRPr lang="en-US" sz="3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433" y="1407557"/>
            <a:ext cx="9599414" cy="5245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81250" y="3865402"/>
            <a:ext cx="2224275" cy="302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Awareness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397923" y="3831273"/>
            <a:ext cx="2224275" cy="302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Consideration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54146" y="3842201"/>
            <a:ext cx="2224275" cy="302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Conversion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935123" y="6894314"/>
            <a:ext cx="5189815" cy="741402"/>
          </a:xfrm>
          <a:prstGeom prst="roundRect">
            <a:avLst>
              <a:gd name="adj" fmla="val 18930"/>
            </a:avLst>
          </a:prstGeom>
          <a:solidFill>
            <a:srgbClr val="FCF2B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76" y="7097435"/>
            <a:ext cx="194905" cy="1558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41734" y="7040404"/>
            <a:ext cx="4527352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Drop-off Alert: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38% of users exit at the Consideration stage — product comparison pages underperforming. 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12844" y="6894314"/>
            <a:ext cx="5189815" cy="741402"/>
          </a:xfrm>
          <a:prstGeom prst="roundRect">
            <a:avLst>
              <a:gd name="adj" fmla="val 18930"/>
            </a:avLst>
          </a:prstGeom>
          <a:solidFill>
            <a:srgbClr val="B6FCB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697" y="7097435"/>
            <a:ext cx="194905" cy="1558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19455" y="7040404"/>
            <a:ext cx="4527352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Retention Strength: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Customers who engage with onboarding content show 2.4x higher LTV.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5209"/>
            <a:ext cx="4174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08 — Key Insights &amp; Findings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120265"/>
            <a:ext cx="79164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Data Tells a Clear Story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69206"/>
            <a:ext cx="670560" cy="67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47838" y="3169206"/>
            <a:ext cx="20939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Mobile-First Gap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47838" y="4013954"/>
            <a:ext cx="209395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61% of traffic is mobile, yet mobile conversion rate is 40% lower than desktop — a critical UX opportunity.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169206"/>
            <a:ext cx="670560" cy="670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9325" y="3169206"/>
            <a:ext cx="20940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Email Outperforms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079325" y="4013954"/>
            <a:ext cx="209407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Segmented email campaigns generate 3x the revenue of broadcast sends — personalization drives results.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169206"/>
            <a:ext cx="670560" cy="6705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0932" y="3169206"/>
            <a:ext cx="20940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Gen Z Emerging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410932" y="4013954"/>
            <a:ext cx="209407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18–24 cohort grew 2x YoY in engagement — currently underserved by messaging and creative strategy.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169206"/>
            <a:ext cx="670560" cy="6705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42539" y="3169206"/>
            <a:ext cx="209407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Retention Pays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1742539" y="4013954"/>
            <a:ext cx="209407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5% increase in retention rate correlates with a 25% increase in profitability across active customer cohorts.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60427"/>
            <a:ext cx="270283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09 — Recommendations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201460" y="892612"/>
            <a:ext cx="7570589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Strategic Actions to Drive Growth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1201460" y="1809750"/>
            <a:ext cx="3998595" cy="2380655"/>
          </a:xfrm>
          <a:prstGeom prst="roundRect">
            <a:avLst>
              <a:gd name="adj" fmla="val 6699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1378625" y="1986915"/>
            <a:ext cx="319194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🚀</a:t>
            </a:r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Short-Term (0–3 Months)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8625" y="2402086"/>
            <a:ext cx="3644265" cy="1611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Rebuild mobile product pages for conversion parity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Launch segmented email sequences for top 3 personas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Reallocate 20% of display budget to SEO content production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01460" y="4328755"/>
            <a:ext cx="3998595" cy="2380655"/>
          </a:xfrm>
          <a:prstGeom prst="roundRect">
            <a:avLst>
              <a:gd name="adj" fmla="val 6699"/>
            </a:avLst>
          </a:pr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1378625" y="4505920"/>
            <a:ext cx="321766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📈</a:t>
            </a:r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Long-Term (3–12 Months)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8625" y="4921091"/>
            <a:ext cx="3644265" cy="1611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 Gen Z-targeted creative and channel strategy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loyalty program tied to onboarding milestones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Invest in AI-driven personalization across all touchpoints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9872" y="2050613"/>
            <a:ext cx="7796451" cy="441793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201460" y="7020878"/>
            <a:ext cx="12227362" cy="648176"/>
          </a:xfrm>
          <a:prstGeom prst="roundRect">
            <a:avLst>
              <a:gd name="adj" fmla="val 24606"/>
            </a:avLst>
          </a:prstGeom>
          <a:solidFill>
            <a:srgbClr val="CCE6D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625" y="7262574"/>
            <a:ext cx="221456" cy="177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77246" y="7203519"/>
            <a:ext cx="114744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North Star Metric: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Increase 12-month customer LTV by 30% through retention, personalization, and mobile experience improvements.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2026-04-28T04:44:20Z</dcterms:created>
  <dcterms:modified xsi:type="dcterms:W3CDTF">2026-04-28T04:44:20Z</dcterms:modified>
</cp:coreProperties>
</file>